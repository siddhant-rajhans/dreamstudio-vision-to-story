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029BAD-2BD5-0DA0-F8D2-704AE97DF795}" v="26" dt="2026-03-08T18:30:34.968"/>
    <p1510:client id="{656DA546-B875-673E-0A9C-01C25B84B2E3}" v="80" dt="2026-03-08T18:32:41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661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9AE6A-C809-EB65-A897-B06B61B74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660C0-9A94-1575-48AC-620E5C309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8C8156-FEA7-D123-CF6F-52B64B514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9532F-C31F-CB8F-04C9-5AF35016AE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739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7.png"/><Relationship Id="rId4" Type="http://schemas.openxmlformats.org/officeDocument/2006/relationships/image" Target="../media/image5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0" y="-1371600"/>
            <a:ext cx="6400800" cy="6400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14400"/>
            <a:ext cx="5486400" cy="5486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-914400"/>
            <a:ext cx="3657600" cy="36576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560320" y="365760"/>
            <a:ext cx="4023360" cy="32004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"/>
          <p:cNvSpPr/>
          <p:nvPr/>
        </p:nvSpPr>
        <p:spPr>
          <a:xfrm>
            <a:off x="2560320" y="365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x GEMINI AI HACKATHON — COLUMBIA UNIVERSITY</a:t>
            </a:r>
            <a:endParaRPr lang="en-US" sz="750"/>
          </a:p>
        </p:txBody>
      </p:sp>
      <p:sp>
        <p:nvSpPr>
          <p:cNvPr id="7" name="Text 2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9A97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you could speak</a:t>
            </a:r>
            <a:endParaRPr lang="en-US" sz="3600"/>
          </a:p>
        </p:txBody>
      </p:sp>
      <p:sp>
        <p:nvSpPr>
          <p:cNvPr id="8" name="Text 3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movie into existence?</a:t>
            </a:r>
            <a:endParaRPr lang="en-US" sz="420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2194560"/>
            <a:ext cx="2743200" cy="5486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>
                <a:solidFill>
                  <a:srgbClr val="E8A87C"/>
                </a:solidFill>
                <a:latin typeface="Georgia"/>
              </a:rPr>
              <a:t>Dream Studio</a:t>
            </a:r>
            <a:endParaRPr lang="en-US" sz="4400" b="1" dirty="0">
              <a:solidFill>
                <a:srgbClr val="E8A87C"/>
              </a:solidFill>
              <a:latin typeface="Georgia"/>
            </a:endParaRPr>
          </a:p>
        </p:txBody>
      </p:sp>
      <p:sp>
        <p:nvSpPr>
          <p:cNvPr id="11" name="Text 5"/>
          <p:cNvSpPr/>
          <p:nvPr/>
        </p:nvSpPr>
        <p:spPr>
          <a:xfrm>
            <a:off x="137160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voice &amp; vision story director powered by Gemini</a:t>
            </a:r>
            <a:endParaRPr lang="en-US" sz="1400"/>
          </a:p>
        </p:txBody>
      </p:sp>
      <p:sp>
        <p:nvSpPr>
          <p:cNvPr id="12" name="Text 6"/>
          <p:cNvSpPr/>
          <p:nvPr/>
        </p:nvSpPr>
        <p:spPr>
          <a:xfrm>
            <a:off x="182880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&lt;5s</a:t>
            </a:r>
            <a:endParaRPr lang="en-US" sz="2600"/>
          </a:p>
        </p:txBody>
      </p:sp>
      <p:sp>
        <p:nvSpPr>
          <p:cNvPr id="13" name="Text 7"/>
          <p:cNvSpPr/>
          <p:nvPr/>
        </p:nvSpPr>
        <p:spPr>
          <a:xfrm>
            <a:off x="1828800" y="4069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scene</a:t>
            </a:r>
            <a:endParaRPr lang="en-US" sz="1000"/>
          </a:p>
        </p:txBody>
      </p:sp>
      <p:sp>
        <p:nvSpPr>
          <p:cNvPr id="14" name="Text 8"/>
          <p:cNvSpPr/>
          <p:nvPr/>
        </p:nvSpPr>
        <p:spPr>
          <a:xfrm>
            <a:off x="384048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D47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/>
          </a:p>
        </p:txBody>
      </p:sp>
      <p:sp>
        <p:nvSpPr>
          <p:cNvPr id="15" name="Text 9"/>
          <p:cNvSpPr/>
          <p:nvPr/>
        </p:nvSpPr>
        <p:spPr>
          <a:xfrm>
            <a:off x="3840480" y="4069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000"/>
          </a:p>
        </p:txBody>
      </p:sp>
      <p:sp>
        <p:nvSpPr>
          <p:cNvPr id="16" name="Text 10"/>
          <p:cNvSpPr/>
          <p:nvPr/>
        </p:nvSpPr>
        <p:spPr>
          <a:xfrm>
            <a:off x="585216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7BC4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600"/>
          </a:p>
        </p:txBody>
      </p:sp>
      <p:sp>
        <p:nvSpPr>
          <p:cNvPr id="17" name="Text 11"/>
          <p:cNvSpPr/>
          <p:nvPr/>
        </p:nvSpPr>
        <p:spPr>
          <a:xfrm>
            <a:off x="5852160" y="4069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voice-driven</a:t>
            </a:r>
            <a:endParaRPr lang="en-US" sz="1000"/>
          </a:p>
        </p:txBody>
      </p:sp>
      <p:sp>
        <p:nvSpPr>
          <p:cNvPr id="18" name="Shape 12"/>
          <p:cNvSpPr/>
          <p:nvPr/>
        </p:nvSpPr>
        <p:spPr>
          <a:xfrm>
            <a:off x="1380744" y="4572000"/>
            <a:ext cx="1188720" cy="256032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1380744" y="4572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D47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800"/>
          </a:p>
        </p:txBody>
      </p:sp>
      <p:sp>
        <p:nvSpPr>
          <p:cNvPr id="20" name="Shape 14"/>
          <p:cNvSpPr/>
          <p:nvPr/>
        </p:nvSpPr>
        <p:spPr>
          <a:xfrm>
            <a:off x="2679192" y="4572000"/>
            <a:ext cx="1188720" cy="256032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2679192" y="4572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D47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4</a:t>
            </a:r>
            <a:endParaRPr lang="en-US" sz="800"/>
          </a:p>
        </p:txBody>
      </p:sp>
      <p:sp>
        <p:nvSpPr>
          <p:cNvPr id="22" name="Shape 16"/>
          <p:cNvSpPr/>
          <p:nvPr/>
        </p:nvSpPr>
        <p:spPr>
          <a:xfrm>
            <a:off x="3977640" y="4572000"/>
            <a:ext cx="1188720" cy="256032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3977640" y="4572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D47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3.1</a:t>
            </a:r>
            <a:endParaRPr lang="en-US" sz="800"/>
          </a:p>
        </p:txBody>
      </p:sp>
      <p:sp>
        <p:nvSpPr>
          <p:cNvPr id="24" name="Shape 18"/>
          <p:cNvSpPr/>
          <p:nvPr/>
        </p:nvSpPr>
        <p:spPr>
          <a:xfrm>
            <a:off x="5276088" y="4572000"/>
            <a:ext cx="1188720" cy="256032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5276088" y="4572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D47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Lyria 2</a:t>
            </a:r>
            <a:endParaRPr lang="en-US" sz="800"/>
          </a:p>
        </p:txBody>
      </p:sp>
      <p:sp>
        <p:nvSpPr>
          <p:cNvPr id="26" name="Shape 20"/>
          <p:cNvSpPr/>
          <p:nvPr/>
        </p:nvSpPr>
        <p:spPr>
          <a:xfrm>
            <a:off x="6574536" y="4572000"/>
            <a:ext cx="1188720" cy="256032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6574536" y="4572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D47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800"/>
          </a:p>
        </p:txBody>
      </p:sp>
      <p:sp>
        <p:nvSpPr>
          <p:cNvPr id="28" name="Text 22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71600" y="-914400"/>
            <a:ext cx="4572000" cy="4572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828800"/>
            <a:ext cx="4114800" cy="4114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3657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57200" y="228600"/>
            <a:ext cx="384048" cy="384048"/>
          </a:xfrm>
          <a:prstGeom prst="ellipse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292608"/>
            <a:ext cx="256032" cy="256032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960120" y="21031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600"/>
          </a:p>
        </p:txBody>
      </p:sp>
      <p:sp>
        <p:nvSpPr>
          <p:cNvPr id="8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Storytelling is still stuck in the 20th century</a:t>
            </a:r>
            <a:endParaRPr lang="en-US" sz="1800"/>
          </a:p>
        </p:txBody>
      </p:sp>
      <p:sp>
        <p:nvSpPr>
          <p:cNvPr id="9" name="Shape 3"/>
          <p:cNvSpPr/>
          <p:nvPr/>
        </p:nvSpPr>
        <p:spPr>
          <a:xfrm>
            <a:off x="457200" y="1325880"/>
            <a:ext cx="8229600" cy="91440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54480"/>
            <a:ext cx="411480" cy="41148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28016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</a:t>
            </a:r>
            <a:endParaRPr lang="en-US" sz="3000"/>
          </a:p>
        </p:txBody>
      </p:sp>
      <p:sp>
        <p:nvSpPr>
          <p:cNvPr id="12" name="Text 5"/>
          <p:cNvSpPr/>
          <p:nvPr/>
        </p:nvSpPr>
        <p:spPr>
          <a:xfrm>
            <a:off x="3017520" y="14173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produce even a short concept film — from script to storyboard to soundtrack</a:t>
            </a:r>
            <a:endParaRPr lang="en-US" sz="1400"/>
          </a:p>
        </p:txBody>
      </p:sp>
      <p:sp>
        <p:nvSpPr>
          <p:cNvPr id="13" name="Shape 6"/>
          <p:cNvSpPr/>
          <p:nvPr/>
        </p:nvSpPr>
        <p:spPr>
          <a:xfrm>
            <a:off x="457200" y="2423160"/>
            <a:ext cx="8229600" cy="91440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651760"/>
            <a:ext cx="411480" cy="41148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280160" y="2514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D47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$10K+</a:t>
            </a:r>
            <a:endParaRPr lang="en-US" sz="3000"/>
          </a:p>
        </p:txBody>
      </p:sp>
      <p:sp>
        <p:nvSpPr>
          <p:cNvPr id="16" name="Text 8"/>
          <p:cNvSpPr/>
          <p:nvPr/>
        </p:nvSpPr>
        <p:spPr>
          <a:xfrm>
            <a:off x="3017520" y="25146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to hire artists, composers, and video editors for a single project</a:t>
            </a:r>
            <a:endParaRPr lang="en-US" sz="1400"/>
          </a:p>
        </p:txBody>
      </p:sp>
      <p:sp>
        <p:nvSpPr>
          <p:cNvPr id="17" name="Shape 9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749040"/>
            <a:ext cx="411480" cy="4114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280160" y="3611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6C8E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3000"/>
          </a:p>
        </p:txBody>
      </p:sp>
      <p:sp>
        <p:nvSpPr>
          <p:cNvPr id="20" name="Text 11"/>
          <p:cNvSpPr/>
          <p:nvPr/>
        </p:nvSpPr>
        <p:spPr>
          <a:xfrm>
            <a:off x="3017520" y="36118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combine voice, camera, image gen, video gen, and music gen in real-time</a:t>
            </a:r>
            <a:endParaRPr lang="en-US" sz="1400"/>
          </a:p>
        </p:txBody>
      </p:sp>
      <p:sp>
        <p:nvSpPr>
          <p:cNvPr id="21" name="Shape 12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3"/>
          <p:cNvSpPr/>
          <p:nvPr/>
        </p:nvSpPr>
        <p:spPr>
          <a:xfrm>
            <a:off x="685800" y="4480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gap: </a:t>
            </a:r>
            <a:r>
              <a:rPr lang="en-US" sz="130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creators want AI-powered storytelling tools, but current options are fragmented, complex, and text-only.</a:t>
            </a:r>
            <a:endParaRPr lang="en-US" sz="1300"/>
          </a:p>
        </p:txBody>
      </p:sp>
      <p:sp>
        <p:nvSpPr>
          <p:cNvPr id="23" name="Text 14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71600" y="-914400"/>
            <a:ext cx="4572000" cy="4572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365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228600"/>
            <a:ext cx="384048" cy="384048"/>
          </a:xfrm>
          <a:prstGeom prst="ellipse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292608"/>
            <a:ext cx="256032" cy="25603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60120" y="21031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2600"/>
          </a:p>
        </p:txBody>
      </p:sp>
      <p:sp>
        <p:nvSpPr>
          <p:cNvPr id="7" name="Text 2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E8A87C"/>
                </a:solidFill>
                <a:latin typeface="Georgia"/>
                <a:ea typeface="Calibri"/>
                <a:cs typeface="Calibri"/>
              </a:rPr>
              <a:t>Dream Studio</a:t>
            </a:r>
            <a:r>
              <a:rPr lang="en-US" sz="1400">
                <a:solidFill>
                  <a:srgbClr val="9A97A0"/>
                </a:solidFill>
                <a:latin typeface="Calibri"/>
                <a:ea typeface="Calibri"/>
                <a:cs typeface="Calibri"/>
              </a:rPr>
              <a:t> : just speak and show. AI generates a complete cinematic story with images, video, music, </a:t>
            </a:r>
            <a:r>
              <a:rPr lang="en-US" sz="1400" dirty="0">
                <a:solidFill>
                  <a:srgbClr val="9A97A0"/>
                </a:solidFill>
                <a:latin typeface="Calibri"/>
                <a:ea typeface="Calibri"/>
                <a:cs typeface="Calibri"/>
              </a:rPr>
              <a:t>and narration in real-time.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Shape 3"/>
          <p:cNvSpPr/>
          <p:nvPr/>
        </p:nvSpPr>
        <p:spPr>
          <a:xfrm>
            <a:off x="365760" y="1280160"/>
            <a:ext cx="8412480" cy="365760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594360" y="1371600"/>
            <a:ext cx="109728" cy="109728"/>
          </a:xfrm>
          <a:prstGeom prst="ellipse">
            <a:avLst/>
          </a:prstGeom>
          <a:solidFill>
            <a:srgbClr val="E070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749808" y="1371600"/>
            <a:ext cx="109728" cy="109728"/>
          </a:xfrm>
          <a:prstGeom prst="ellipse">
            <a:avLst/>
          </a:prstGeom>
          <a:solidFill>
            <a:srgbClr val="E8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6"/>
          <p:cNvSpPr/>
          <p:nvPr/>
        </p:nvSpPr>
        <p:spPr>
          <a:xfrm>
            <a:off x="905256" y="1371600"/>
            <a:ext cx="109728" cy="109728"/>
          </a:xfrm>
          <a:prstGeom prst="ellipse">
            <a:avLst/>
          </a:prstGeom>
          <a:solidFill>
            <a:srgbClr val="7BC4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3200400" y="1325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5A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storyline.app</a:t>
            </a:r>
            <a:endParaRPr lang="en-US" sz="90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l="-893" t="4718" r="893" b="15851"/>
          <a:stretch>
            <a:fillRect/>
          </a:stretch>
        </p:blipFill>
        <p:spPr>
          <a:xfrm>
            <a:off x="1822981" y="1503830"/>
            <a:ext cx="5518719" cy="344128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657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28600"/>
            <a:ext cx="384048" cy="384048"/>
          </a:xfrm>
          <a:prstGeom prst="ellipse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292608"/>
            <a:ext cx="256032" cy="2560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0120" y="21031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2600"/>
          </a:p>
        </p:txBody>
      </p:sp>
      <p:sp>
        <p:nvSpPr>
          <p:cNvPr id="6" name="Shape 2"/>
          <p:cNvSpPr/>
          <p:nvPr/>
        </p:nvSpPr>
        <p:spPr>
          <a:xfrm>
            <a:off x="548640" y="822960"/>
            <a:ext cx="2377440" cy="406908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68" y="960120"/>
            <a:ext cx="2157984" cy="29260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</a:t>
            </a:r>
            <a:endParaRPr lang="en-US" sz="1600"/>
          </a:p>
        </p:txBody>
      </p:sp>
      <p:sp>
        <p:nvSpPr>
          <p:cNvPr id="9" name="Text 4"/>
          <p:cNvSpPr/>
          <p:nvPr/>
        </p:nvSpPr>
        <p:spPr>
          <a:xfrm>
            <a:off x="548640" y="4389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StoryLine</a:t>
            </a:r>
            <a:endParaRPr lang="en-US" sz="11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2560320"/>
            <a:ext cx="365760" cy="36576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566160" y="822960"/>
            <a:ext cx="2377440" cy="406908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75888" y="960120"/>
            <a:ext cx="2157984" cy="29260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566160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D47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</a:t>
            </a:r>
            <a:endParaRPr lang="en-US" sz="1600"/>
          </a:p>
        </p:txBody>
      </p:sp>
      <p:sp>
        <p:nvSpPr>
          <p:cNvPr id="14" name="Text 7"/>
          <p:cNvSpPr/>
          <p:nvPr/>
        </p:nvSpPr>
        <p:spPr>
          <a:xfrm>
            <a:off x="3566160" y="4389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&amp; direct your story</a:t>
            </a:r>
            <a:endParaRPr lang="en-US" sz="110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2560320"/>
            <a:ext cx="365760" cy="36576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6583680" y="822960"/>
            <a:ext cx="2377440" cy="406908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93408" y="960120"/>
            <a:ext cx="2157984" cy="292608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583680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C4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1600"/>
          </a:p>
        </p:txBody>
      </p:sp>
      <p:sp>
        <p:nvSpPr>
          <p:cNvPr id="19" name="Text 10"/>
          <p:cNvSpPr/>
          <p:nvPr/>
        </p:nvSpPr>
        <p:spPr>
          <a:xfrm>
            <a:off x="6583680" y="4389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storyboard output</a:t>
            </a:r>
            <a:endParaRPr lang="en-US" sz="1100"/>
          </a:p>
        </p:txBody>
      </p:sp>
      <p:sp>
        <p:nvSpPr>
          <p:cNvPr id="20" name="Text 11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C48C0C-EFDF-2D0A-391D-0E579B71B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B8B2FBA-B687-9213-3C2A-F8F5DA4617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36576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097AF7BA-5D2D-8A77-54CD-718CF4427410}"/>
              </a:ext>
            </a:extLst>
          </p:cNvPr>
          <p:cNvSpPr/>
          <p:nvPr/>
        </p:nvSpPr>
        <p:spPr>
          <a:xfrm>
            <a:off x="457200" y="228600"/>
            <a:ext cx="384048" cy="384048"/>
          </a:xfrm>
          <a:prstGeom prst="ellipse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D097B3F9-AE0F-66E0-B314-5331A17995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292608"/>
            <a:ext cx="256032" cy="256032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252D9F4C-4173-7790-4B14-4D8E839FD4F9}"/>
              </a:ext>
            </a:extLst>
          </p:cNvPr>
          <p:cNvSpPr/>
          <p:nvPr/>
        </p:nvSpPr>
        <p:spPr>
          <a:xfrm>
            <a:off x="960120" y="21031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2600"/>
          </a:p>
        </p:txBody>
      </p:sp>
      <p:pic>
        <p:nvPicPr>
          <p:cNvPr id="21" name="WhatsApp Video 2026-03-08 at 14.08.21">
            <a:hlinkClick r:id="" action="ppaction://media"/>
            <a:extLst>
              <a:ext uri="{FF2B5EF4-FFF2-40B4-BE49-F238E27FC236}">
                <a16:creationId xmlns:a16="http://schemas.microsoft.com/office/drawing/2014/main" id="{971FA6A1-CEF2-8313-B9AE-463723589E3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42463" y="706182"/>
            <a:ext cx="73152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86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71600" y="-914400"/>
            <a:ext cx="4572000" cy="4572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365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228600"/>
            <a:ext cx="384048" cy="384048"/>
          </a:xfrm>
          <a:prstGeom prst="ellipse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292608"/>
            <a:ext cx="256032" cy="25603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60120" y="21031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600"/>
          </a:p>
        </p:txBody>
      </p:sp>
      <p:sp>
        <p:nvSpPr>
          <p:cNvPr id="7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imagination to cinematic story in under 5 minutes</a:t>
            </a:r>
            <a:endParaRPr lang="en-US" sz="1300"/>
          </a:p>
        </p:txBody>
      </p:sp>
      <p:sp>
        <p:nvSpPr>
          <p:cNvPr id="8" name="Shape 3"/>
          <p:cNvSpPr/>
          <p:nvPr/>
        </p:nvSpPr>
        <p:spPr>
          <a:xfrm>
            <a:off x="320040" y="1188720"/>
            <a:ext cx="1965960" cy="329184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457200" y="12801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/>
          </a:p>
        </p:txBody>
      </p:sp>
      <p:sp>
        <p:nvSpPr>
          <p:cNvPr id="10" name="Shape 5"/>
          <p:cNvSpPr/>
          <p:nvPr/>
        </p:nvSpPr>
        <p:spPr>
          <a:xfrm>
            <a:off x="868680" y="1920240"/>
            <a:ext cx="731520" cy="731520"/>
          </a:xfrm>
          <a:prstGeom prst="ellipse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2057400"/>
            <a:ext cx="457200" cy="457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1480" y="2788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Speak</a:t>
            </a:r>
            <a:endParaRPr lang="en-US" sz="1400"/>
          </a:p>
        </p:txBody>
      </p:sp>
      <p:sp>
        <p:nvSpPr>
          <p:cNvPr id="13" name="Text 7"/>
          <p:cNvSpPr/>
          <p:nvPr/>
        </p:nvSpPr>
        <p:spPr>
          <a:xfrm>
            <a:off x="411480" y="3108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 your story naturally. Show objects via camera for visual context.</a:t>
            </a:r>
            <a:endParaRPr lang="en-US" sz="105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2514600"/>
            <a:ext cx="274320" cy="27432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2514600" y="1188720"/>
            <a:ext cx="1965960" cy="329184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/>
          <p:nvPr/>
        </p:nvSpPr>
        <p:spPr>
          <a:xfrm>
            <a:off x="2651760" y="12801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D47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/>
          </a:p>
        </p:txBody>
      </p:sp>
      <p:sp>
        <p:nvSpPr>
          <p:cNvPr id="17" name="Shape 10"/>
          <p:cNvSpPr/>
          <p:nvPr/>
        </p:nvSpPr>
        <p:spPr>
          <a:xfrm>
            <a:off x="3063240" y="1920240"/>
            <a:ext cx="731520" cy="731520"/>
          </a:xfrm>
          <a:prstGeom prst="ellipse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2057400"/>
            <a:ext cx="457200" cy="4572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606040" y="2788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47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Listens</a:t>
            </a:r>
            <a:endParaRPr lang="en-US" sz="1400"/>
          </a:p>
        </p:txBody>
      </p:sp>
      <p:sp>
        <p:nvSpPr>
          <p:cNvPr id="20" name="Text 12"/>
          <p:cNvSpPr/>
          <p:nvPr/>
        </p:nvSpPr>
        <p:spPr>
          <a:xfrm>
            <a:off x="2606040" y="3108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audio model processes voice + vision in real-time bidi stream.</a:t>
            </a:r>
            <a:endParaRPr lang="en-US" sz="105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2514600"/>
            <a:ext cx="274320" cy="27432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4709160" y="1188720"/>
            <a:ext cx="1965960" cy="329184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4"/>
          <p:cNvSpPr/>
          <p:nvPr/>
        </p:nvSpPr>
        <p:spPr>
          <a:xfrm>
            <a:off x="4846320" y="12801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6C8E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/>
          </a:p>
        </p:txBody>
      </p:sp>
      <p:sp>
        <p:nvSpPr>
          <p:cNvPr id="24" name="Shape 15"/>
          <p:cNvSpPr/>
          <p:nvPr/>
        </p:nvSpPr>
        <p:spPr>
          <a:xfrm>
            <a:off x="5257800" y="1920240"/>
            <a:ext cx="731520" cy="731520"/>
          </a:xfrm>
          <a:prstGeom prst="ellipse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4960" y="2057400"/>
            <a:ext cx="457200" cy="4572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800600" y="2788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6C8E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Creates</a:t>
            </a:r>
            <a:endParaRPr lang="en-US" sz="1400"/>
          </a:p>
        </p:txBody>
      </p:sp>
      <p:sp>
        <p:nvSpPr>
          <p:cNvPr id="27" name="Text 17"/>
          <p:cNvSpPr/>
          <p:nvPr/>
        </p:nvSpPr>
        <p:spPr>
          <a:xfrm>
            <a:off x="4800600" y="3108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4 renders scenes. Veo 3.1 generates video. Lyria 2 composes music.</a:t>
            </a:r>
            <a:endParaRPr lang="en-US" sz="105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2514600"/>
            <a:ext cx="274320" cy="274320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6903720" y="1188720"/>
            <a:ext cx="1965960" cy="329184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19"/>
          <p:cNvSpPr/>
          <p:nvPr/>
        </p:nvSpPr>
        <p:spPr>
          <a:xfrm>
            <a:off x="7040880" y="12801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7BC4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/>
          </a:p>
        </p:txBody>
      </p:sp>
      <p:sp>
        <p:nvSpPr>
          <p:cNvPr id="31" name="Shape 20"/>
          <p:cNvSpPr/>
          <p:nvPr/>
        </p:nvSpPr>
        <p:spPr>
          <a:xfrm>
            <a:off x="7452360" y="1920240"/>
            <a:ext cx="731520" cy="731520"/>
          </a:xfrm>
          <a:prstGeom prst="ellipse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9520" y="2057400"/>
            <a:ext cx="457200" cy="45720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995160" y="2788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C4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Complete</a:t>
            </a:r>
            <a:endParaRPr lang="en-US" sz="1400"/>
          </a:p>
        </p:txBody>
      </p:sp>
      <p:sp>
        <p:nvSpPr>
          <p:cNvPr id="34" name="Text 22"/>
          <p:cNvSpPr/>
          <p:nvPr/>
        </p:nvSpPr>
        <p:spPr>
          <a:xfrm>
            <a:off x="6995160" y="3108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storyboard with images, video clips, soundtrack, and narration.</a:t>
            </a:r>
            <a:endParaRPr lang="en-US" sz="1050"/>
          </a:p>
        </p:txBody>
      </p:sp>
      <p:sp>
        <p:nvSpPr>
          <p:cNvPr id="35" name="Text 23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828800"/>
            <a:ext cx="4114800" cy="4114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365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228600"/>
            <a:ext cx="384048" cy="384048"/>
          </a:xfrm>
          <a:prstGeom prst="ellipse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292608"/>
            <a:ext cx="256032" cy="25603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60120" y="21031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2600"/>
          </a:p>
        </p:txBody>
      </p:sp>
      <p:sp>
        <p:nvSpPr>
          <p:cNvPr id="7" name="Shape 2"/>
          <p:cNvSpPr/>
          <p:nvPr/>
        </p:nvSpPr>
        <p:spPr>
          <a:xfrm>
            <a:off x="457200" y="777240"/>
            <a:ext cx="5029200" cy="658368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3"/>
          <p:cNvSpPr/>
          <p:nvPr/>
        </p:nvSpPr>
        <p:spPr>
          <a:xfrm>
            <a:off x="594360" y="941832"/>
            <a:ext cx="1005840" cy="292608"/>
          </a:xfrm>
          <a:prstGeom prst="rect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594360" y="9418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>
                <a:solidFill>
                  <a:srgbClr val="6C8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800"/>
          </a:p>
        </p:txBody>
      </p:sp>
      <p:sp>
        <p:nvSpPr>
          <p:cNvPr id="10" name="Text 5"/>
          <p:cNvSpPr/>
          <p:nvPr/>
        </p:nvSpPr>
        <p:spPr>
          <a:xfrm>
            <a:off x="1737360" y="8869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 |  Web App (HTML/JS)  |  AudioWorklet PCM 16kHz/24kHz</a:t>
            </a:r>
            <a:endParaRPr lang="en-US" sz="1050"/>
          </a:p>
        </p:txBody>
      </p:sp>
      <p:sp>
        <p:nvSpPr>
          <p:cNvPr id="11" name="Text 6"/>
          <p:cNvSpPr/>
          <p:nvPr/>
        </p:nvSpPr>
        <p:spPr>
          <a:xfrm>
            <a:off x="2743200" y="1399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5760"/>
                </a:solidFill>
              </a:rPr>
              <a:t>▼</a:t>
            </a:r>
            <a:endParaRPr lang="en-US" sz="1000"/>
          </a:p>
        </p:txBody>
      </p:sp>
      <p:sp>
        <p:nvSpPr>
          <p:cNvPr id="12" name="Shape 7"/>
          <p:cNvSpPr/>
          <p:nvPr/>
        </p:nvSpPr>
        <p:spPr>
          <a:xfrm>
            <a:off x="457200" y="1581912"/>
            <a:ext cx="5029200" cy="658368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594360" y="1746504"/>
            <a:ext cx="1005840" cy="292608"/>
          </a:xfrm>
          <a:prstGeom prst="rect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594360" y="17465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800"/>
          </a:p>
        </p:txBody>
      </p:sp>
      <p:sp>
        <p:nvSpPr>
          <p:cNvPr id="15" name="Text 10"/>
          <p:cNvSpPr/>
          <p:nvPr/>
        </p:nvSpPr>
        <p:spPr>
          <a:xfrm>
            <a:off x="173736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Bidi  |  Base64 Audio Frames  |  Camera Snapshots (JPEG)</a:t>
            </a:r>
            <a:endParaRPr lang="en-US" sz="1050"/>
          </a:p>
        </p:txBody>
      </p:sp>
      <p:sp>
        <p:nvSpPr>
          <p:cNvPr id="16" name="Text 11"/>
          <p:cNvSpPr/>
          <p:nvPr/>
        </p:nvSpPr>
        <p:spPr>
          <a:xfrm>
            <a:off x="2743200" y="22037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5760"/>
                </a:solidFill>
              </a:rPr>
              <a:t>▼</a:t>
            </a:r>
            <a:endParaRPr lang="en-US" sz="1000"/>
          </a:p>
        </p:txBody>
      </p:sp>
      <p:sp>
        <p:nvSpPr>
          <p:cNvPr id="17" name="Shape 12"/>
          <p:cNvSpPr/>
          <p:nvPr/>
        </p:nvSpPr>
        <p:spPr>
          <a:xfrm>
            <a:off x="457200" y="2386584"/>
            <a:ext cx="5029200" cy="658368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594360" y="2551176"/>
            <a:ext cx="1005840" cy="292608"/>
          </a:xfrm>
          <a:prstGeom prst="rect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594360" y="25511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>
                <a:solidFill>
                  <a:srgbClr val="D47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800"/>
          </a:p>
        </p:txBody>
      </p:sp>
      <p:sp>
        <p:nvSpPr>
          <p:cNvPr id="20" name="Text 15"/>
          <p:cNvSpPr/>
          <p:nvPr/>
        </p:nvSpPr>
        <p:spPr>
          <a:xfrm>
            <a:off x="1737360" y="24963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|  Google ADK  |  LiveRequestQueue  |  BIDI Streaming</a:t>
            </a:r>
            <a:endParaRPr lang="en-US" sz="1050"/>
          </a:p>
        </p:txBody>
      </p:sp>
      <p:sp>
        <p:nvSpPr>
          <p:cNvPr id="21" name="Text 16"/>
          <p:cNvSpPr/>
          <p:nvPr/>
        </p:nvSpPr>
        <p:spPr>
          <a:xfrm>
            <a:off x="2743200" y="3008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5760"/>
                </a:solidFill>
              </a:rPr>
              <a:t>▼</a:t>
            </a:r>
            <a:endParaRPr lang="en-US" sz="1000"/>
          </a:p>
        </p:txBody>
      </p:sp>
      <p:sp>
        <p:nvSpPr>
          <p:cNvPr id="22" name="Shape 17"/>
          <p:cNvSpPr/>
          <p:nvPr/>
        </p:nvSpPr>
        <p:spPr>
          <a:xfrm>
            <a:off x="457200" y="3191256"/>
            <a:ext cx="5029200" cy="658368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594360" y="3355848"/>
            <a:ext cx="1005840" cy="292608"/>
          </a:xfrm>
          <a:prstGeom prst="rect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594360" y="33558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>
                <a:solidFill>
                  <a:srgbClr val="7BC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800"/>
          </a:p>
        </p:txBody>
      </p:sp>
      <p:sp>
        <p:nvSpPr>
          <p:cNvPr id="25" name="Text 20"/>
          <p:cNvSpPr/>
          <p:nvPr/>
        </p:nvSpPr>
        <p:spPr>
          <a:xfrm>
            <a:off x="1737360" y="33009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(Native Audio)  |  Imagen 4  |  Veo 3.1  |  Lyria 2</a:t>
            </a:r>
            <a:endParaRPr lang="en-US" sz="1050"/>
          </a:p>
        </p:txBody>
      </p:sp>
      <p:sp>
        <p:nvSpPr>
          <p:cNvPr id="26" name="Text 21"/>
          <p:cNvSpPr/>
          <p:nvPr/>
        </p:nvSpPr>
        <p:spPr>
          <a:xfrm>
            <a:off x="2743200" y="3813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5760"/>
                </a:solidFill>
              </a:rPr>
              <a:t>▼</a:t>
            </a:r>
            <a:endParaRPr lang="en-US" sz="1000"/>
          </a:p>
        </p:txBody>
      </p:sp>
      <p:sp>
        <p:nvSpPr>
          <p:cNvPr id="27" name="Shape 22"/>
          <p:cNvSpPr/>
          <p:nvPr/>
        </p:nvSpPr>
        <p:spPr>
          <a:xfrm>
            <a:off x="457200" y="3995928"/>
            <a:ext cx="5029200" cy="658368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594360" y="4160520"/>
            <a:ext cx="1005840" cy="292608"/>
          </a:xfrm>
          <a:prstGeom prst="rect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594360" y="4160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>
                <a:solidFill>
                  <a:srgbClr val="6C8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00"/>
          </a:p>
        </p:txBody>
      </p:sp>
      <p:sp>
        <p:nvSpPr>
          <p:cNvPr id="30" name="Text 25"/>
          <p:cNvSpPr/>
          <p:nvPr/>
        </p:nvSpPr>
        <p:spPr>
          <a:xfrm>
            <a:off x="1737360" y="41056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Storage  |  Base64 Asset Encoding  |  Real-time Delivery</a:t>
            </a:r>
            <a:endParaRPr lang="en-US" sz="1050"/>
          </a:p>
        </p:txBody>
      </p:sp>
      <p:sp>
        <p:nvSpPr>
          <p:cNvPr id="31" name="Shape 26"/>
          <p:cNvSpPr/>
          <p:nvPr/>
        </p:nvSpPr>
        <p:spPr>
          <a:xfrm>
            <a:off x="5760720" y="777240"/>
            <a:ext cx="2926080" cy="402336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5943600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Innovations</a:t>
            </a:r>
            <a:endParaRPr lang="en-US" sz="1500"/>
          </a:p>
        </p:txBody>
      </p:sp>
      <p:sp>
        <p:nvSpPr>
          <p:cNvPr id="33" name="Shape 28"/>
          <p:cNvSpPr/>
          <p:nvPr/>
        </p:nvSpPr>
        <p:spPr>
          <a:xfrm>
            <a:off x="5897880" y="1371600"/>
            <a:ext cx="109728" cy="109728"/>
          </a:xfrm>
          <a:prstGeom prst="ellipse">
            <a:avLst/>
          </a:prstGeom>
          <a:solidFill>
            <a:srgbClr val="E8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126480" y="13258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Audio Streaming</a:t>
            </a:r>
            <a:endParaRPr lang="en-US" sz="1100"/>
          </a:p>
        </p:txBody>
      </p:sp>
      <p:sp>
        <p:nvSpPr>
          <p:cNvPr id="35" name="Text 30"/>
          <p:cNvSpPr/>
          <p:nvPr/>
        </p:nvSpPr>
        <p:spPr>
          <a:xfrm>
            <a:off x="612648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processes raw PCM audio — no speech-to-text step. Sub-second latency.</a:t>
            </a:r>
            <a:endParaRPr lang="en-US" sz="950"/>
          </a:p>
        </p:txBody>
      </p:sp>
      <p:sp>
        <p:nvSpPr>
          <p:cNvPr id="36" name="Shape 31"/>
          <p:cNvSpPr/>
          <p:nvPr/>
        </p:nvSpPr>
        <p:spPr>
          <a:xfrm>
            <a:off x="5897880" y="2194560"/>
            <a:ext cx="109728" cy="109728"/>
          </a:xfrm>
          <a:prstGeom prst="ellipse">
            <a:avLst/>
          </a:prstGeom>
          <a:solidFill>
            <a:srgbClr val="D478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6126480" y="2148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47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Pipeline</a:t>
            </a:r>
            <a:endParaRPr lang="en-US" sz="1100"/>
          </a:p>
        </p:txBody>
      </p:sp>
      <p:sp>
        <p:nvSpPr>
          <p:cNvPr id="38" name="Text 33"/>
          <p:cNvSpPr/>
          <p:nvPr/>
        </p:nvSpPr>
        <p:spPr>
          <a:xfrm>
            <a:off x="6126480" y="2377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camera feed processed simultaneously. AI sees what you see, hears what you say.</a:t>
            </a:r>
            <a:endParaRPr lang="en-US" sz="950"/>
          </a:p>
        </p:txBody>
      </p:sp>
      <p:sp>
        <p:nvSpPr>
          <p:cNvPr id="39" name="Shape 34"/>
          <p:cNvSpPr/>
          <p:nvPr/>
        </p:nvSpPr>
        <p:spPr>
          <a:xfrm>
            <a:off x="5897880" y="3017520"/>
            <a:ext cx="109728" cy="109728"/>
          </a:xfrm>
          <a:prstGeom prst="ellipse">
            <a:avLst/>
          </a:prstGeom>
          <a:solidFill>
            <a:srgbClr val="6C8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6126480" y="29718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C8E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Orchestrated Generation</a:t>
            </a:r>
            <a:endParaRPr lang="en-US" sz="1100"/>
          </a:p>
        </p:txBody>
      </p:sp>
      <p:sp>
        <p:nvSpPr>
          <p:cNvPr id="41" name="Text 36"/>
          <p:cNvSpPr/>
          <p:nvPr/>
        </p:nvSpPr>
        <p:spPr>
          <a:xfrm>
            <a:off x="6126480" y="3200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agent coordinates 4 generation APIs in parallel — images, video, music happen together.</a:t>
            </a:r>
            <a:endParaRPr lang="en-US" sz="950"/>
          </a:p>
        </p:txBody>
      </p:sp>
      <p:sp>
        <p:nvSpPr>
          <p:cNvPr id="42" name="Shape 37"/>
          <p:cNvSpPr/>
          <p:nvPr/>
        </p:nvSpPr>
        <p:spPr>
          <a:xfrm>
            <a:off x="5897880" y="3840480"/>
            <a:ext cx="109728" cy="109728"/>
          </a:xfrm>
          <a:prstGeom prst="ellipse">
            <a:avLst/>
          </a:prstGeom>
          <a:solidFill>
            <a:srgbClr val="7BC4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6126480" y="3794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BC4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Delivery</a:t>
            </a:r>
            <a:endParaRPr lang="en-US" sz="1100"/>
          </a:p>
        </p:txBody>
      </p:sp>
      <p:sp>
        <p:nvSpPr>
          <p:cNvPr id="44" name="Text 39"/>
          <p:cNvSpPr/>
          <p:nvPr/>
        </p:nvSpPr>
        <p:spPr>
          <a:xfrm>
            <a:off x="612648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bidi stream pushes generated assets to client as they complete. No waiting.</a:t>
            </a:r>
            <a:endParaRPr lang="en-US" sz="950"/>
          </a:p>
        </p:txBody>
      </p:sp>
      <p:sp>
        <p:nvSpPr>
          <p:cNvPr id="45" name="Text 40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71600" y="-914400"/>
            <a:ext cx="4572000" cy="4572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828800"/>
            <a:ext cx="4114800" cy="4114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3657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57200" y="228600"/>
            <a:ext cx="384048" cy="384048"/>
          </a:xfrm>
          <a:prstGeom prst="ellipse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292608"/>
            <a:ext cx="256032" cy="256032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960120" y="21031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Google Cloud</a:t>
            </a:r>
            <a:endParaRPr lang="en-US" sz="2600"/>
          </a:p>
        </p:txBody>
      </p:sp>
      <p:sp>
        <p:nvSpPr>
          <p:cNvPr id="8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integration with 5 Google AI APIs working in concert</a:t>
            </a:r>
            <a:endParaRPr lang="en-US" sz="1300"/>
          </a:p>
        </p:txBody>
      </p:sp>
      <p:sp>
        <p:nvSpPr>
          <p:cNvPr id="9" name="Shape 3"/>
          <p:cNvSpPr/>
          <p:nvPr/>
        </p:nvSpPr>
        <p:spPr>
          <a:xfrm>
            <a:off x="457200" y="1097280"/>
            <a:ext cx="4023360" cy="164592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4"/>
          <p:cNvSpPr/>
          <p:nvPr/>
        </p:nvSpPr>
        <p:spPr>
          <a:xfrm>
            <a:off x="621792" y="1261872"/>
            <a:ext cx="457200" cy="457200"/>
          </a:xfrm>
          <a:prstGeom prst="ellipse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" y="1344168"/>
            <a:ext cx="292608" cy="29260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88720" y="12344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2.5 Flash</a:t>
            </a:r>
            <a:endParaRPr lang="en-US" sz="1500"/>
          </a:p>
        </p:txBody>
      </p:sp>
      <p:sp>
        <p:nvSpPr>
          <p:cNvPr id="13" name="Shape 6"/>
          <p:cNvSpPr/>
          <p:nvPr/>
        </p:nvSpPr>
        <p:spPr>
          <a:xfrm>
            <a:off x="1188720" y="1527048"/>
            <a:ext cx="3108960" cy="201168"/>
          </a:xfrm>
          <a:prstGeom prst="rect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7"/>
          <p:cNvSpPr/>
          <p:nvPr/>
        </p:nvSpPr>
        <p:spPr>
          <a:xfrm>
            <a:off x="1234440" y="15270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5A57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gemini-2.5-flash-native-audio</a:t>
            </a:r>
            <a:endParaRPr lang="en-US" sz="700"/>
          </a:p>
        </p:txBody>
      </p:sp>
      <p:sp>
        <p:nvSpPr>
          <p:cNvPr id="15" name="Text 8"/>
          <p:cNvSpPr/>
          <p:nvPr/>
        </p:nvSpPr>
        <p:spPr>
          <a:xfrm>
            <a:off x="621792" y="1828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story director — processes voice + camera input, makes creative decisions about narrative, cinematography, mood. Uses native audio mode for sub-second latency.</a:t>
            </a:r>
            <a:endParaRPr lang="en-US" sz="1000"/>
          </a:p>
        </p:txBody>
      </p:sp>
      <p:sp>
        <p:nvSpPr>
          <p:cNvPr id="16" name="Shape 9"/>
          <p:cNvSpPr/>
          <p:nvPr/>
        </p:nvSpPr>
        <p:spPr>
          <a:xfrm>
            <a:off x="4754880" y="1097280"/>
            <a:ext cx="4023360" cy="164592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0"/>
          <p:cNvSpPr/>
          <p:nvPr/>
        </p:nvSpPr>
        <p:spPr>
          <a:xfrm>
            <a:off x="4919472" y="1261872"/>
            <a:ext cx="457200" cy="457200"/>
          </a:xfrm>
          <a:prstGeom prst="ellipse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1768" y="1344168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486400" y="12344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D47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Imagen 4</a:t>
            </a:r>
            <a:endParaRPr lang="en-US" sz="1500"/>
          </a:p>
        </p:txBody>
      </p:sp>
      <p:sp>
        <p:nvSpPr>
          <p:cNvPr id="20" name="Shape 12"/>
          <p:cNvSpPr/>
          <p:nvPr/>
        </p:nvSpPr>
        <p:spPr>
          <a:xfrm>
            <a:off x="5486400" y="1527048"/>
            <a:ext cx="3108960" cy="201168"/>
          </a:xfrm>
          <a:prstGeom prst="rect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3"/>
          <p:cNvSpPr/>
          <p:nvPr/>
        </p:nvSpPr>
        <p:spPr>
          <a:xfrm>
            <a:off x="5532120" y="15270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5A57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imagen-4.0-generate-preview-05-20</a:t>
            </a:r>
            <a:endParaRPr lang="en-US" sz="700"/>
          </a:p>
        </p:txBody>
      </p:sp>
      <p:sp>
        <p:nvSpPr>
          <p:cNvPr id="22" name="Text 14"/>
          <p:cNvSpPr/>
          <p:nvPr/>
        </p:nvSpPr>
        <p:spPr>
          <a:xfrm>
            <a:off x="4919472" y="1828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storyboard images from scene descriptions. Creates visually consistent scenes with cinematic framing and lighting.</a:t>
            </a:r>
            <a:endParaRPr lang="en-US" sz="1000"/>
          </a:p>
        </p:txBody>
      </p:sp>
      <p:sp>
        <p:nvSpPr>
          <p:cNvPr id="23" name="Shape 15"/>
          <p:cNvSpPr/>
          <p:nvPr/>
        </p:nvSpPr>
        <p:spPr>
          <a:xfrm>
            <a:off x="457200" y="2971800"/>
            <a:ext cx="4023360" cy="164592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621792" y="3136392"/>
            <a:ext cx="457200" cy="457200"/>
          </a:xfrm>
          <a:prstGeom prst="ellipse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088" y="3218688"/>
            <a:ext cx="292608" cy="29260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188720" y="31089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07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Veo 3.1</a:t>
            </a:r>
            <a:endParaRPr lang="en-US" sz="1500"/>
          </a:p>
        </p:txBody>
      </p:sp>
      <p:sp>
        <p:nvSpPr>
          <p:cNvPr id="27" name="Shape 18"/>
          <p:cNvSpPr/>
          <p:nvPr/>
        </p:nvSpPr>
        <p:spPr>
          <a:xfrm>
            <a:off x="1188720" y="3401568"/>
            <a:ext cx="3108960" cy="201168"/>
          </a:xfrm>
          <a:prstGeom prst="rect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9"/>
          <p:cNvSpPr/>
          <p:nvPr/>
        </p:nvSpPr>
        <p:spPr>
          <a:xfrm>
            <a:off x="1234440" y="34015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5A57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veo-3.1-generate-preview</a:t>
            </a:r>
            <a:endParaRPr lang="en-US" sz="700"/>
          </a:p>
        </p:txBody>
      </p:sp>
      <p:sp>
        <p:nvSpPr>
          <p:cNvPr id="29" name="Text 20"/>
          <p:cNvSpPr/>
          <p:nvPr/>
        </p:nvSpPr>
        <p:spPr>
          <a:xfrm>
            <a:off x="621792" y="3703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short video clips for climactic story moments. Adds cinematic motion and visual effects to key scenes.</a:t>
            </a:r>
            <a:endParaRPr lang="en-US" sz="1000"/>
          </a:p>
        </p:txBody>
      </p:sp>
      <p:sp>
        <p:nvSpPr>
          <p:cNvPr id="30" name="Shape 21"/>
          <p:cNvSpPr/>
          <p:nvPr/>
        </p:nvSpPr>
        <p:spPr>
          <a:xfrm>
            <a:off x="4754880" y="2971800"/>
            <a:ext cx="4023360" cy="164592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2"/>
          <p:cNvSpPr/>
          <p:nvPr/>
        </p:nvSpPr>
        <p:spPr>
          <a:xfrm>
            <a:off x="4919472" y="3136392"/>
            <a:ext cx="457200" cy="457200"/>
          </a:xfrm>
          <a:prstGeom prst="ellipse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1768" y="3218688"/>
            <a:ext cx="292608" cy="29260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486400" y="31089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7BC4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Lyria 2</a:t>
            </a:r>
            <a:endParaRPr lang="en-US" sz="1500"/>
          </a:p>
        </p:txBody>
      </p:sp>
      <p:sp>
        <p:nvSpPr>
          <p:cNvPr id="34" name="Shape 24"/>
          <p:cNvSpPr/>
          <p:nvPr/>
        </p:nvSpPr>
        <p:spPr>
          <a:xfrm>
            <a:off x="5486400" y="3401568"/>
            <a:ext cx="3108960" cy="201168"/>
          </a:xfrm>
          <a:prstGeom prst="rect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5"/>
          <p:cNvSpPr/>
          <p:nvPr/>
        </p:nvSpPr>
        <p:spPr>
          <a:xfrm>
            <a:off x="5532120" y="34015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5A57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lyria-2-generate-preview</a:t>
            </a:r>
            <a:endParaRPr lang="en-US" sz="700"/>
          </a:p>
        </p:txBody>
      </p:sp>
      <p:sp>
        <p:nvSpPr>
          <p:cNvPr id="36" name="Text 26"/>
          <p:cNvSpPr/>
          <p:nvPr/>
        </p:nvSpPr>
        <p:spPr>
          <a:xfrm>
            <a:off x="4919472" y="3703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Composes original background music matching story mood. Generates ambient, tense, and triumphant soundscapes.</a:t>
            </a:r>
            <a:endParaRPr lang="en-US" sz="1000"/>
          </a:p>
        </p:txBody>
      </p:sp>
      <p:sp>
        <p:nvSpPr>
          <p:cNvPr id="37" name="Shape 27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28"/>
          <p:cNvSpPr/>
          <p:nvPr/>
        </p:nvSpPr>
        <p:spPr>
          <a:xfrm>
            <a:off x="685800" y="4617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6C8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Google ADK (Agent Development Kit)</a:t>
            </a: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Orchestrates all models via BIDI streaming with RunConfig(StreamingMode.BIDI) + LiveRequestQueue</a:t>
            </a:r>
            <a:endParaRPr lang="en-US" sz="1050"/>
          </a:p>
        </p:txBody>
      </p:sp>
      <p:sp>
        <p:nvSpPr>
          <p:cNvPr id="39" name="Text 29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828800"/>
            <a:ext cx="4114800" cy="4114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365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228600"/>
            <a:ext cx="384048" cy="384048"/>
          </a:xfrm>
          <a:prstGeom prst="ellipse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292608"/>
            <a:ext cx="256032" cy="25603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60120" y="21031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2600"/>
          </a:p>
        </p:txBody>
      </p:sp>
      <p:sp>
        <p:nvSpPr>
          <p:cNvPr id="7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production-ready application in 48 hours</a:t>
            </a:r>
            <a:endParaRPr lang="en-US" sz="1300"/>
          </a:p>
        </p:txBody>
      </p:sp>
      <p:sp>
        <p:nvSpPr>
          <p:cNvPr id="8" name="Shape 3"/>
          <p:cNvSpPr/>
          <p:nvPr/>
        </p:nvSpPr>
        <p:spPr>
          <a:xfrm>
            <a:off x="457200" y="1097280"/>
            <a:ext cx="2606040" cy="370332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1371600" y="1234440"/>
            <a:ext cx="502920" cy="502920"/>
          </a:xfrm>
          <a:prstGeom prst="ellipse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0" y="132588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4360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D47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50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276856"/>
            <a:ext cx="164592" cy="16459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WebSocket server</a:t>
            </a:r>
            <a:endParaRPr lang="en-US" sz="105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660904"/>
            <a:ext cx="164592" cy="16459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14400" y="2624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 agent orchestration</a:t>
            </a:r>
            <a:endParaRPr lang="en-US" sz="105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044952"/>
            <a:ext cx="164592" cy="16459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14400" y="300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bidi streaming pipeline</a:t>
            </a:r>
            <a:endParaRPr lang="en-US" sz="105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429000"/>
            <a:ext cx="164592" cy="164592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914400" y="3392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4 + Veo 3.1 + Lyria 2 tools</a:t>
            </a:r>
            <a:endParaRPr lang="en-US" sz="105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813048"/>
            <a:ext cx="164592" cy="164592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914400" y="3776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asset storage &amp; delivery</a:t>
            </a:r>
            <a:endParaRPr lang="en-US" sz="105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197096"/>
            <a:ext cx="164592" cy="164592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914400" y="4160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containerized</a:t>
            </a:r>
            <a:endParaRPr lang="en-US" sz="1050"/>
          </a:p>
        </p:txBody>
      </p:sp>
      <p:sp>
        <p:nvSpPr>
          <p:cNvPr id="24" name="Shape 12"/>
          <p:cNvSpPr/>
          <p:nvPr/>
        </p:nvSpPr>
        <p:spPr>
          <a:xfrm>
            <a:off x="3337560" y="1097280"/>
            <a:ext cx="2606040" cy="370332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3"/>
          <p:cNvSpPr/>
          <p:nvPr/>
        </p:nvSpPr>
        <p:spPr>
          <a:xfrm>
            <a:off x="4251960" y="1234440"/>
            <a:ext cx="502920" cy="502920"/>
          </a:xfrm>
          <a:prstGeom prst="ellipse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1325880"/>
            <a:ext cx="320040" cy="32004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3474720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6C8E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Frontend</a:t>
            </a:r>
            <a:endParaRPr lang="en-US" sz="150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2276856"/>
            <a:ext cx="164592" cy="164592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3794760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with animations</a:t>
            </a:r>
            <a:endParaRPr lang="en-US" sz="105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2660904"/>
            <a:ext cx="164592" cy="164592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3794760" y="2624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story studio</a:t>
            </a:r>
            <a:endParaRPr lang="en-US" sz="1050"/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044952"/>
            <a:ext cx="164592" cy="164592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3794760" y="300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AudioWorklet PCM capture</a:t>
            </a:r>
            <a:endParaRPr lang="en-US" sz="1050"/>
          </a:p>
        </p:txBody>
      </p:sp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429000"/>
            <a:ext cx="164592" cy="164592"/>
          </a:xfrm>
          <a:prstGeom prst="rect">
            <a:avLst/>
          </a:prstGeom>
        </p:spPr>
      </p:pic>
      <p:sp>
        <p:nvSpPr>
          <p:cNvPr id="35" name="Text 18"/>
          <p:cNvSpPr/>
          <p:nvPr/>
        </p:nvSpPr>
        <p:spPr>
          <a:xfrm>
            <a:off x="3794760" y="3392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stream integration</a:t>
            </a:r>
            <a:endParaRPr lang="en-US" sz="1050"/>
          </a:p>
        </p:txBody>
      </p:sp>
      <p:pic>
        <p:nvPicPr>
          <p:cNvPr id="36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813048"/>
            <a:ext cx="164592" cy="164592"/>
          </a:xfrm>
          <a:prstGeom prst="rect">
            <a:avLst/>
          </a:prstGeom>
        </p:spPr>
      </p:pic>
      <p:sp>
        <p:nvSpPr>
          <p:cNvPr id="37" name="Text 19"/>
          <p:cNvSpPr/>
          <p:nvPr/>
        </p:nvSpPr>
        <p:spPr>
          <a:xfrm>
            <a:off x="3794760" y="3776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output &amp; review page</a:t>
            </a:r>
            <a:endParaRPr lang="en-US" sz="1050"/>
          </a:p>
        </p:txBody>
      </p:sp>
      <p:pic>
        <p:nvPicPr>
          <p:cNvPr id="3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4197096"/>
            <a:ext cx="164592" cy="164592"/>
          </a:xfrm>
          <a:prstGeom prst="rect">
            <a:avLst/>
          </a:prstGeom>
        </p:spPr>
      </p:pic>
      <p:sp>
        <p:nvSpPr>
          <p:cNvPr id="39" name="Text 20"/>
          <p:cNvSpPr/>
          <p:nvPr/>
        </p:nvSpPr>
        <p:spPr>
          <a:xfrm>
            <a:off x="3794760" y="4160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mobile design</a:t>
            </a:r>
            <a:endParaRPr lang="en-US" sz="1050"/>
          </a:p>
        </p:txBody>
      </p:sp>
      <p:sp>
        <p:nvSpPr>
          <p:cNvPr id="40" name="Shape 21"/>
          <p:cNvSpPr/>
          <p:nvPr/>
        </p:nvSpPr>
        <p:spPr>
          <a:xfrm>
            <a:off x="6217920" y="1097280"/>
            <a:ext cx="2606040" cy="370332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22"/>
          <p:cNvSpPr/>
          <p:nvPr/>
        </p:nvSpPr>
        <p:spPr>
          <a:xfrm>
            <a:off x="7132320" y="1234440"/>
            <a:ext cx="502920" cy="502920"/>
          </a:xfrm>
          <a:prstGeom prst="ellipse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3760" y="1325880"/>
            <a:ext cx="320040" cy="320040"/>
          </a:xfrm>
          <a:prstGeom prst="rect">
            <a:avLst/>
          </a:prstGeom>
        </p:spPr>
      </p:pic>
      <p:sp>
        <p:nvSpPr>
          <p:cNvPr id="43" name="Text 23"/>
          <p:cNvSpPr/>
          <p:nvPr/>
        </p:nvSpPr>
        <p:spPr>
          <a:xfrm>
            <a:off x="6355080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7BC4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Flutter Mobile</a:t>
            </a:r>
            <a:endParaRPr lang="en-US" sz="1500"/>
          </a:p>
        </p:txBody>
      </p:sp>
      <p:pic>
        <p:nvPicPr>
          <p:cNvPr id="44" name="Image 1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2276856"/>
            <a:ext cx="164592" cy="164592"/>
          </a:xfrm>
          <a:prstGeom prst="rect">
            <a:avLst/>
          </a:prstGeom>
        </p:spPr>
      </p:pic>
      <p:sp>
        <p:nvSpPr>
          <p:cNvPr id="45" name="Text 24"/>
          <p:cNvSpPr/>
          <p:nvPr/>
        </p:nvSpPr>
        <p:spPr>
          <a:xfrm>
            <a:off x="6675120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iOS &amp; Android</a:t>
            </a:r>
            <a:endParaRPr lang="en-US" sz="1050"/>
          </a:p>
        </p:txBody>
      </p:sp>
      <p:pic>
        <p:nvPicPr>
          <p:cNvPr id="46" name="Image 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2660904"/>
            <a:ext cx="164592" cy="164592"/>
          </a:xfrm>
          <a:prstGeom prst="rect">
            <a:avLst/>
          </a:prstGeom>
        </p:spPr>
      </p:pic>
      <p:sp>
        <p:nvSpPr>
          <p:cNvPr id="47" name="Text 25"/>
          <p:cNvSpPr/>
          <p:nvPr/>
        </p:nvSpPr>
        <p:spPr>
          <a:xfrm>
            <a:off x="6675120" y="2624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Pixel-matched web design</a:t>
            </a:r>
            <a:endParaRPr lang="en-US" sz="1050"/>
          </a:p>
        </p:txBody>
      </p:sp>
      <p:pic>
        <p:nvPicPr>
          <p:cNvPr id="48" name="Image 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044952"/>
            <a:ext cx="164592" cy="164592"/>
          </a:xfrm>
          <a:prstGeom prst="rect">
            <a:avLst/>
          </a:prstGeom>
        </p:spPr>
      </p:pic>
      <p:sp>
        <p:nvSpPr>
          <p:cNvPr id="49" name="Text 26"/>
          <p:cNvSpPr/>
          <p:nvPr/>
        </p:nvSpPr>
        <p:spPr>
          <a:xfrm>
            <a:off x="6675120" y="300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integration</a:t>
            </a:r>
            <a:endParaRPr lang="en-US" sz="1050"/>
          </a:p>
        </p:txBody>
      </p:sp>
      <p:pic>
        <p:nvPicPr>
          <p:cNvPr id="50" name="Image 2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429000"/>
            <a:ext cx="164592" cy="164592"/>
          </a:xfrm>
          <a:prstGeom prst="rect">
            <a:avLst/>
          </a:prstGeom>
        </p:spPr>
      </p:pic>
      <p:sp>
        <p:nvSpPr>
          <p:cNvPr id="51" name="Text 27"/>
          <p:cNvSpPr/>
          <p:nvPr/>
        </p:nvSpPr>
        <p:spPr>
          <a:xfrm>
            <a:off x="6675120" y="3392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waveform visualizer</a:t>
            </a:r>
            <a:endParaRPr lang="en-US" sz="1050"/>
          </a:p>
        </p:txBody>
      </p:sp>
      <p:pic>
        <p:nvPicPr>
          <p:cNvPr id="52" name="Image 2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813048"/>
            <a:ext cx="164592" cy="164592"/>
          </a:xfrm>
          <a:prstGeom prst="rect">
            <a:avLst/>
          </a:prstGeom>
        </p:spPr>
      </p:pic>
      <p:sp>
        <p:nvSpPr>
          <p:cNvPr id="53" name="Text 28"/>
          <p:cNvSpPr/>
          <p:nvPr/>
        </p:nvSpPr>
        <p:spPr>
          <a:xfrm>
            <a:off x="6675120" y="3776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timeline navigation</a:t>
            </a:r>
            <a:endParaRPr lang="en-US" sz="1050"/>
          </a:p>
        </p:txBody>
      </p:sp>
      <p:pic>
        <p:nvPicPr>
          <p:cNvPr id="54" name="Image 2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4197096"/>
            <a:ext cx="164592" cy="164592"/>
          </a:xfrm>
          <a:prstGeom prst="rect">
            <a:avLst/>
          </a:prstGeom>
        </p:spPr>
      </p:pic>
      <p:sp>
        <p:nvSpPr>
          <p:cNvPr id="55" name="Text 29"/>
          <p:cNvSpPr/>
          <p:nvPr/>
        </p:nvSpPr>
        <p:spPr>
          <a:xfrm>
            <a:off x="6675120" y="4160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Gradient-matched theme system</a:t>
            </a:r>
            <a:endParaRPr lang="en-US" sz="1050"/>
          </a:p>
        </p:txBody>
      </p:sp>
      <p:sp>
        <p:nvSpPr>
          <p:cNvPr id="56" name="Text 30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657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28600"/>
            <a:ext cx="384048" cy="384048"/>
          </a:xfrm>
          <a:prstGeom prst="ellipse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292608"/>
            <a:ext cx="256032" cy="2560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0120" y="21031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Generated Output</a:t>
            </a:r>
            <a:endParaRPr lang="en-US" sz="2600"/>
          </a:p>
        </p:txBody>
      </p:sp>
      <p:sp>
        <p:nvSpPr>
          <p:cNvPr id="6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City That Shouldn't Exist" — created by voice in 4 minutes</a:t>
            </a:r>
            <a:endParaRPr lang="en-US" sz="1300"/>
          </a:p>
        </p:txBody>
      </p:sp>
      <p:sp>
        <p:nvSpPr>
          <p:cNvPr id="7" name="Shape 3"/>
          <p:cNvSpPr/>
          <p:nvPr/>
        </p:nvSpPr>
        <p:spPr>
          <a:xfrm>
            <a:off x="274320" y="1005840"/>
            <a:ext cx="8595360" cy="4023360"/>
          </a:xfrm>
          <a:prstGeom prst="rect">
            <a:avLst/>
          </a:prstGeom>
          <a:solidFill>
            <a:srgbClr val="181825"/>
          </a:solidFill>
          <a:ln w="12700">
            <a:solidFill>
              <a:srgbClr val="3A3A4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02920" y="1097280"/>
            <a:ext cx="91440" cy="91440"/>
          </a:xfrm>
          <a:prstGeom prst="ellipse">
            <a:avLst/>
          </a:prstGeom>
          <a:solidFill>
            <a:srgbClr val="E070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40080" y="1097280"/>
            <a:ext cx="91440" cy="91440"/>
          </a:xfrm>
          <a:prstGeom prst="ellipse">
            <a:avLst/>
          </a:prstGeom>
          <a:solidFill>
            <a:srgbClr val="E8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777240" y="1097280"/>
            <a:ext cx="91440" cy="91440"/>
          </a:xfrm>
          <a:prstGeom prst="ellipse">
            <a:avLst/>
          </a:prstGeom>
          <a:solidFill>
            <a:srgbClr val="7BC4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200400" y="10515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5A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storyline.app/output</a:t>
            </a:r>
            <a:endParaRPr lang="en-US" sz="80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11480" y="1325880"/>
            <a:ext cx="8321040" cy="35661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00" y="-914400"/>
            <a:ext cx="5486400" cy="5486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71600"/>
            <a:ext cx="4572000" cy="457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-1371600"/>
            <a:ext cx="4572000" cy="4572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Storytelling</a:t>
            </a:r>
            <a:endParaRPr lang="en-US" sz="340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868680"/>
            <a:ext cx="2743200" cy="4572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spoken, not typed</a:t>
            </a:r>
            <a:endParaRPr lang="en-US" sz="200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1627632"/>
            <a:ext cx="274320" cy="27432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73736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Indie Filmmakers</a:t>
            </a:r>
            <a:endParaRPr lang="en-US" sz="1300"/>
          </a:p>
        </p:txBody>
      </p:sp>
      <p:sp>
        <p:nvSpPr>
          <p:cNvPr id="10" name="Text 3"/>
          <p:cNvSpPr/>
          <p:nvPr/>
        </p:nvSpPr>
        <p:spPr>
          <a:xfrm>
            <a:off x="1737360" y="18105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to storyboard in minutes, not months</a:t>
            </a:r>
            <a:endParaRPr lang="en-US" sz="105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1627632"/>
            <a:ext cx="274320" cy="27432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521208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C8E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Educators</a:t>
            </a:r>
            <a:endParaRPr lang="en-US" sz="1300"/>
          </a:p>
        </p:txBody>
      </p:sp>
      <p:sp>
        <p:nvSpPr>
          <p:cNvPr id="13" name="Text 5"/>
          <p:cNvSpPr/>
          <p:nvPr/>
        </p:nvSpPr>
        <p:spPr>
          <a:xfrm>
            <a:off x="5212080" y="18105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any lesson to life with immersive stories</a:t>
            </a:r>
            <a:endParaRPr lang="en-US" sz="105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" y="2542032"/>
            <a:ext cx="274320" cy="27432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737360" y="2468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478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Creators</a:t>
            </a:r>
            <a:endParaRPr lang="en-US" sz="1300"/>
          </a:p>
        </p:txBody>
      </p:sp>
      <p:sp>
        <p:nvSpPr>
          <p:cNvPr id="16" name="Text 7"/>
          <p:cNvSpPr/>
          <p:nvPr/>
        </p:nvSpPr>
        <p:spPr>
          <a:xfrm>
            <a:off x="1737360" y="2724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cinematic content from a single voice prompt</a:t>
            </a:r>
            <a:endParaRPr lang="en-US" sz="105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2542032"/>
            <a:ext cx="274320" cy="27432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5212080" y="2468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7BC4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</a:t>
            </a:r>
            <a:endParaRPr lang="en-US" sz="1300"/>
          </a:p>
        </p:txBody>
      </p:sp>
      <p:sp>
        <p:nvSpPr>
          <p:cNvPr id="19" name="Text 9"/>
          <p:cNvSpPr/>
          <p:nvPr/>
        </p:nvSpPr>
        <p:spPr>
          <a:xfrm>
            <a:off x="5212080" y="2724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technical skills needed — just speak</a:t>
            </a:r>
            <a:endParaRPr lang="en-US" sz="1050"/>
          </a:p>
        </p:txBody>
      </p:sp>
      <p:sp>
        <p:nvSpPr>
          <p:cNvPr id="20" name="Shape 10"/>
          <p:cNvSpPr/>
          <p:nvPr/>
        </p:nvSpPr>
        <p:spPr>
          <a:xfrm>
            <a:off x="2011680" y="3611880"/>
            <a:ext cx="5120640" cy="82296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1"/>
          <p:cNvSpPr/>
          <p:nvPr/>
        </p:nvSpPr>
        <p:spPr>
          <a:xfrm>
            <a:off x="2194560" y="36576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>
                <a:solidFill>
                  <a:srgbClr val="E8A87C"/>
                </a:solidFill>
                <a:latin typeface="Georgia"/>
                <a:ea typeface="Georgia" pitchFamily="34" charset="-122"/>
                <a:cs typeface="Georgia" pitchFamily="34" charset="-120"/>
              </a:rPr>
              <a:t>Try Dream Studio</a:t>
            </a:r>
            <a:endParaRPr lang="en-US" sz="2000" b="1">
              <a:solidFill>
                <a:srgbClr val="E8A87C"/>
              </a:solidFill>
              <a:latin typeface="Georgia"/>
            </a:endParaRPr>
          </a:p>
          <a:p>
            <a:pPr marL="0" indent="0" algn="ctr">
              <a:buNone/>
            </a:pPr>
            <a:r>
              <a:rPr lang="en-US" sz="130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your story. See it come to life.</a:t>
            </a:r>
            <a:endParaRPr lang="en-US" sz="2000"/>
          </a:p>
        </p:txBody>
      </p:sp>
      <p:sp>
        <p:nvSpPr>
          <p:cNvPr id="22" name="Shape 12"/>
          <p:cNvSpPr/>
          <p:nvPr/>
        </p:nvSpPr>
        <p:spPr>
          <a:xfrm>
            <a:off x="1188720" y="4617720"/>
            <a:ext cx="1051560" cy="237744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3"/>
          <p:cNvSpPr/>
          <p:nvPr/>
        </p:nvSpPr>
        <p:spPr>
          <a:xfrm>
            <a:off x="1188720" y="46177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D47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750"/>
          </a:p>
        </p:txBody>
      </p:sp>
      <p:sp>
        <p:nvSpPr>
          <p:cNvPr id="24" name="Shape 14"/>
          <p:cNvSpPr/>
          <p:nvPr/>
        </p:nvSpPr>
        <p:spPr>
          <a:xfrm>
            <a:off x="2331720" y="4617720"/>
            <a:ext cx="1051560" cy="237744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5"/>
          <p:cNvSpPr/>
          <p:nvPr/>
        </p:nvSpPr>
        <p:spPr>
          <a:xfrm>
            <a:off x="2331720" y="46177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D47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750"/>
          </a:p>
        </p:txBody>
      </p:sp>
      <p:sp>
        <p:nvSpPr>
          <p:cNvPr id="26" name="Shape 16"/>
          <p:cNvSpPr/>
          <p:nvPr/>
        </p:nvSpPr>
        <p:spPr>
          <a:xfrm>
            <a:off x="3474720" y="4617720"/>
            <a:ext cx="1051560" cy="237744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7"/>
          <p:cNvSpPr/>
          <p:nvPr/>
        </p:nvSpPr>
        <p:spPr>
          <a:xfrm>
            <a:off x="3474720" y="46177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D47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4</a:t>
            </a:r>
            <a:endParaRPr lang="en-US" sz="750"/>
          </a:p>
        </p:txBody>
      </p:sp>
      <p:sp>
        <p:nvSpPr>
          <p:cNvPr id="28" name="Shape 18"/>
          <p:cNvSpPr/>
          <p:nvPr/>
        </p:nvSpPr>
        <p:spPr>
          <a:xfrm>
            <a:off x="4617720" y="4617720"/>
            <a:ext cx="1051560" cy="237744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19"/>
          <p:cNvSpPr/>
          <p:nvPr/>
        </p:nvSpPr>
        <p:spPr>
          <a:xfrm>
            <a:off x="4617720" y="46177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D47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3.1</a:t>
            </a:r>
            <a:endParaRPr lang="en-US" sz="750"/>
          </a:p>
        </p:txBody>
      </p:sp>
      <p:sp>
        <p:nvSpPr>
          <p:cNvPr id="30" name="Shape 20"/>
          <p:cNvSpPr/>
          <p:nvPr/>
        </p:nvSpPr>
        <p:spPr>
          <a:xfrm>
            <a:off x="5760720" y="4617720"/>
            <a:ext cx="1051560" cy="237744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1"/>
          <p:cNvSpPr/>
          <p:nvPr/>
        </p:nvSpPr>
        <p:spPr>
          <a:xfrm>
            <a:off x="5760720" y="46177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D47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Lyria 2</a:t>
            </a:r>
            <a:endParaRPr lang="en-US" sz="750"/>
          </a:p>
        </p:txBody>
      </p:sp>
      <p:sp>
        <p:nvSpPr>
          <p:cNvPr id="32" name="Shape 22"/>
          <p:cNvSpPr/>
          <p:nvPr/>
        </p:nvSpPr>
        <p:spPr>
          <a:xfrm>
            <a:off x="6903720" y="4617720"/>
            <a:ext cx="1051560" cy="237744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3"/>
          <p:cNvSpPr/>
          <p:nvPr/>
        </p:nvSpPr>
        <p:spPr>
          <a:xfrm>
            <a:off x="6903720" y="46177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D47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750"/>
          </a:p>
        </p:txBody>
      </p:sp>
      <p:sp>
        <p:nvSpPr>
          <p:cNvPr id="34" name="Text 24"/>
          <p:cNvSpPr/>
          <p:nvPr/>
        </p:nvSpPr>
        <p:spPr>
          <a:xfrm>
            <a:off x="182880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5A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Columbia University  |  March 2026</a:t>
            </a:r>
            <a:endParaRPr lang="en-US" sz="900"/>
          </a:p>
        </p:txBody>
      </p:sp>
      <p:sp>
        <p:nvSpPr>
          <p:cNvPr id="35" name="Text 25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09" y="-960834"/>
            <a:ext cx="5486400" cy="5486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71600"/>
            <a:ext cx="4572000" cy="457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-1371600"/>
            <a:ext cx="4572000" cy="4572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14400" y="177879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1000839"/>
            <a:ext cx="2743200" cy="54864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371600" y="1143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i="1">
                <a:solidFill>
                  <a:srgbClr val="E8A87C"/>
                </a:solidFill>
                <a:latin typeface="Georgia"/>
                <a:ea typeface="Georgia" pitchFamily="34" charset="-122"/>
                <a:cs typeface="Georgia" pitchFamily="34" charset="-120"/>
              </a:rPr>
              <a:t>Let's bring stories to life</a:t>
            </a:r>
            <a:endParaRPr lang="en-US" sz="2000">
              <a:latin typeface="Georgia"/>
              <a:ea typeface="Calibri"/>
              <a:cs typeface="Calibri"/>
            </a:endParaRPr>
          </a:p>
        </p:txBody>
      </p:sp>
      <p:sp>
        <p:nvSpPr>
          <p:cNvPr id="8" name="Shape 2"/>
          <p:cNvSpPr/>
          <p:nvPr/>
        </p:nvSpPr>
        <p:spPr>
          <a:xfrm>
            <a:off x="2286000" y="2560320"/>
            <a:ext cx="4572000" cy="137160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A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 lIns="91440" tIns="45720" rIns="91440" bIns="45720" anchor="t"/>
          <a:lstStyle/>
          <a:p>
            <a:r>
              <a:rPr lang="en-US" err="1">
                <a:ea typeface="Calibri"/>
                <a:cs typeface="Calibri"/>
              </a:rPr>
              <a:t>fff</a:t>
            </a:r>
            <a:endParaRPr lang="en-US" err="1"/>
          </a:p>
        </p:txBody>
      </p:sp>
      <p:sp>
        <p:nvSpPr>
          <p:cNvPr id="9" name="Text 3"/>
          <p:cNvSpPr/>
          <p:nvPr/>
        </p:nvSpPr>
        <p:spPr>
          <a:xfrm>
            <a:off x="2468880" y="1600914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StoryLine</a:t>
            </a:r>
            <a:endParaRPr lang="en-US" sz="1800"/>
          </a:p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</a:rPr>
              <a:t>
</a:t>
            </a:r>
            <a:endParaRPr lang="en-US" sz="1800"/>
          </a:p>
          <a:p>
            <a:pPr marL="0" indent="0" algn="ctr">
              <a:buNone/>
            </a:pPr>
            <a:r>
              <a:rPr lang="en-US" sz="1400">
                <a:solidFill>
                  <a:srgbClr val="9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your story. See it come to life.</a:t>
            </a:r>
            <a:endParaRPr lang="en-US" sz="1800"/>
          </a:p>
        </p:txBody>
      </p:sp>
      <p:sp>
        <p:nvSpPr>
          <p:cNvPr id="10" name="Shape 4"/>
          <p:cNvSpPr/>
          <p:nvPr/>
        </p:nvSpPr>
        <p:spPr>
          <a:xfrm>
            <a:off x="937260" y="4251960"/>
            <a:ext cx="1097280" cy="27432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5"/>
          <p:cNvSpPr/>
          <p:nvPr/>
        </p:nvSpPr>
        <p:spPr>
          <a:xfrm>
            <a:off x="93726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D47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800"/>
          </a:p>
        </p:txBody>
      </p:sp>
      <p:sp>
        <p:nvSpPr>
          <p:cNvPr id="12" name="Shape 6"/>
          <p:cNvSpPr/>
          <p:nvPr/>
        </p:nvSpPr>
        <p:spPr>
          <a:xfrm>
            <a:off x="2171700" y="4251960"/>
            <a:ext cx="1097280" cy="27432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/>
          <p:nvPr/>
        </p:nvSpPr>
        <p:spPr>
          <a:xfrm>
            <a:off x="217170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D47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800"/>
          </a:p>
        </p:txBody>
      </p:sp>
      <p:sp>
        <p:nvSpPr>
          <p:cNvPr id="14" name="Shape 8"/>
          <p:cNvSpPr/>
          <p:nvPr/>
        </p:nvSpPr>
        <p:spPr>
          <a:xfrm>
            <a:off x="3406140" y="4251960"/>
            <a:ext cx="1097280" cy="27432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340614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D47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4</a:t>
            </a:r>
            <a:endParaRPr lang="en-US" sz="800"/>
          </a:p>
        </p:txBody>
      </p:sp>
      <p:sp>
        <p:nvSpPr>
          <p:cNvPr id="16" name="Shape 10"/>
          <p:cNvSpPr/>
          <p:nvPr/>
        </p:nvSpPr>
        <p:spPr>
          <a:xfrm>
            <a:off x="4640580" y="4251960"/>
            <a:ext cx="1097280" cy="27432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464058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D47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3.1</a:t>
            </a:r>
            <a:endParaRPr lang="en-US" sz="800"/>
          </a:p>
        </p:txBody>
      </p:sp>
      <p:sp>
        <p:nvSpPr>
          <p:cNvPr id="18" name="Shape 12"/>
          <p:cNvSpPr/>
          <p:nvPr/>
        </p:nvSpPr>
        <p:spPr>
          <a:xfrm>
            <a:off x="5875020" y="4251960"/>
            <a:ext cx="1097280" cy="27432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587502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D47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Lyria 2</a:t>
            </a:r>
            <a:endParaRPr lang="en-US" sz="800"/>
          </a:p>
        </p:txBody>
      </p:sp>
      <p:sp>
        <p:nvSpPr>
          <p:cNvPr id="20" name="Shape 14"/>
          <p:cNvSpPr/>
          <p:nvPr/>
        </p:nvSpPr>
        <p:spPr>
          <a:xfrm>
            <a:off x="7109460" y="4251960"/>
            <a:ext cx="1097280" cy="274320"/>
          </a:xfrm>
          <a:prstGeom prst="rect">
            <a:avLst/>
          </a:prstGeom>
          <a:solidFill>
            <a:srgbClr val="1A1A28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710946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D47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800"/>
          </a:p>
        </p:txBody>
      </p:sp>
      <p:sp>
        <p:nvSpPr>
          <p:cNvPr id="22" name="Text 16"/>
          <p:cNvSpPr/>
          <p:nvPr/>
        </p:nvSpPr>
        <p:spPr>
          <a:xfrm>
            <a:off x="13716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University  |  Google Cloud x Gemini AI Hackathon  |  March 2026</a:t>
            </a:r>
            <a:endParaRPr lang="en-US" sz="100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F6E47A10-4FD3-8EA2-E230-30CF725F86ED}"/>
              </a:ext>
            </a:extLst>
          </p:cNvPr>
          <p:cNvSpPr/>
          <p:nvPr/>
        </p:nvSpPr>
        <p:spPr>
          <a:xfrm>
            <a:off x="1303734" y="257175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i="1">
                <a:solidFill>
                  <a:srgbClr val="E8A87C"/>
                </a:solidFill>
                <a:latin typeface="Georgia"/>
              </a:rPr>
              <a:t>Brought to you by</a:t>
            </a: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3053D3EF-F4CE-16F1-38CE-69B80AFE4933}"/>
              </a:ext>
            </a:extLst>
          </p:cNvPr>
          <p:cNvSpPr/>
          <p:nvPr/>
        </p:nvSpPr>
        <p:spPr>
          <a:xfrm>
            <a:off x="-139303" y="3439715"/>
            <a:ext cx="2482454" cy="435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i="1">
                <a:solidFill>
                  <a:srgbClr val="E8A87C"/>
                </a:solidFill>
                <a:latin typeface="Georgia"/>
              </a:rPr>
              <a:t>Maruthi </a:t>
            </a:r>
            <a:endParaRPr lang="en-US" sz="16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1600" i="1" err="1">
                <a:solidFill>
                  <a:srgbClr val="E8A87C"/>
                </a:solidFill>
                <a:latin typeface="Georgia"/>
              </a:rPr>
              <a:t>Kunchala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FD764323-030D-00CB-9E7A-D256CBEDBC4A}"/>
              </a:ext>
            </a:extLst>
          </p:cNvPr>
          <p:cNvSpPr/>
          <p:nvPr/>
        </p:nvSpPr>
        <p:spPr>
          <a:xfrm>
            <a:off x="1503758" y="3439715"/>
            <a:ext cx="2482454" cy="435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i="1">
                <a:solidFill>
                  <a:srgbClr val="E8A87C"/>
                </a:solidFill>
                <a:latin typeface="Georgia"/>
                <a:ea typeface="Calibri"/>
                <a:cs typeface="Calibri"/>
              </a:rPr>
              <a:t>Siddhant</a:t>
            </a:r>
            <a:br>
              <a:rPr lang="en-US" sz="1600" i="1">
                <a:solidFill>
                  <a:srgbClr val="E8A87C"/>
                </a:solidFill>
                <a:latin typeface="Georgia"/>
                <a:ea typeface="Calibri"/>
                <a:cs typeface="Calibri"/>
              </a:rPr>
            </a:br>
            <a:r>
              <a:rPr lang="en-US" sz="1600" i="1">
                <a:solidFill>
                  <a:srgbClr val="E8A87C"/>
                </a:solidFill>
                <a:latin typeface="Georgia"/>
                <a:ea typeface="Calibri"/>
                <a:cs typeface="Calibri"/>
              </a:rPr>
              <a:t>Rajhans</a:t>
            </a:r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492E6179-312C-CA95-E18A-BEAEA2B64803}"/>
              </a:ext>
            </a:extLst>
          </p:cNvPr>
          <p:cNvSpPr/>
          <p:nvPr/>
        </p:nvSpPr>
        <p:spPr>
          <a:xfrm>
            <a:off x="3332559" y="3439715"/>
            <a:ext cx="2482454" cy="435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i="1">
                <a:solidFill>
                  <a:srgbClr val="E8A87C"/>
                </a:solidFill>
                <a:latin typeface="Georgia"/>
              </a:rPr>
              <a:t>Prakhar</a:t>
            </a:r>
          </a:p>
          <a:p>
            <a:pPr algn="ctr"/>
            <a:r>
              <a:rPr lang="en-US" sz="1600" i="1">
                <a:solidFill>
                  <a:srgbClr val="E8A87C"/>
                </a:solidFill>
                <a:latin typeface="Georgia"/>
              </a:rPr>
              <a:t>   Tripathi </a:t>
            </a:r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C10E6053-E87E-5679-B47C-DA5E396C789C}"/>
              </a:ext>
            </a:extLst>
          </p:cNvPr>
          <p:cNvSpPr/>
          <p:nvPr/>
        </p:nvSpPr>
        <p:spPr>
          <a:xfrm>
            <a:off x="5029200" y="3439715"/>
            <a:ext cx="2482454" cy="435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i="1">
                <a:solidFill>
                  <a:srgbClr val="E8A87C"/>
                </a:solidFill>
                <a:latin typeface="Georgia"/>
              </a:rPr>
              <a:t>Anugya </a:t>
            </a:r>
            <a:endParaRPr lang="en-US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1600" i="1">
                <a:solidFill>
                  <a:srgbClr val="E8A87C"/>
                </a:solidFill>
                <a:latin typeface="Georgia"/>
              </a:rPr>
              <a:t>Sharma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1B261BA3-3E9F-B0BD-53DB-343BB496AC18}"/>
              </a:ext>
            </a:extLst>
          </p:cNvPr>
          <p:cNvSpPr/>
          <p:nvPr/>
        </p:nvSpPr>
        <p:spPr>
          <a:xfrm>
            <a:off x="6968727" y="3439715"/>
            <a:ext cx="2482454" cy="435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i="1">
                <a:solidFill>
                  <a:srgbClr val="E8A87C"/>
                </a:solidFill>
                <a:latin typeface="Georgia"/>
              </a:rPr>
              <a:t>Vignesh</a:t>
            </a:r>
            <a:br>
              <a:rPr lang="en-US" sz="1600" i="1">
                <a:solidFill>
                  <a:srgbClr val="E8A87C"/>
                </a:solidFill>
                <a:latin typeface="Georgia"/>
              </a:rPr>
            </a:br>
            <a:r>
              <a:rPr lang="en-US" sz="1600" i="1">
                <a:solidFill>
                  <a:srgbClr val="E8A87C"/>
                </a:solidFill>
                <a:latin typeface="Georgia"/>
              </a:rPr>
              <a:t>Prasad</a:t>
            </a:r>
            <a:endParaRPr lang="en-US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AFC424E4-992A-A72F-731C-09D25697A04A}"/>
              </a:ext>
            </a:extLst>
          </p:cNvPr>
          <p:cNvSpPr/>
          <p:nvPr/>
        </p:nvSpPr>
        <p:spPr>
          <a:xfrm>
            <a:off x="5604272" y="48691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>
                <a:solidFill>
                  <a:srgbClr val="5A5760"/>
                </a:solidFill>
                <a:latin typeface="Calibri"/>
                <a:ea typeface="Calibri"/>
                <a:cs typeface="Calibri"/>
              </a:rPr>
              <a:t>GO DUCKS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08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StoryLine — Real-Time Voice &amp; Vision Story Director</dc:title>
  <dc:subject>PptxGenJS Presentation</dc:subject>
  <dc:creator>StoryLine Team</dc:creator>
  <cp:revision>56</cp:revision>
  <dcterms:created xsi:type="dcterms:W3CDTF">2026-03-08T17:56:47Z</dcterms:created>
  <dcterms:modified xsi:type="dcterms:W3CDTF">2026-03-08T18:32:47Z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3fd474-4f3c-44ed-88fb-5cc4bd2471bf_Enabled">
    <vt:lpwstr>true</vt:lpwstr>
  </property>
  <property fmtid="{D5CDD505-2E9C-101B-9397-08002B2CF9AE}" pid="3" name="MSIP_Label_a73fd474-4f3c-44ed-88fb-5cc4bd2471bf_SetDate">
    <vt:lpwstr>2026-03-08T18:08:48Z</vt:lpwstr>
  </property>
  <property fmtid="{D5CDD505-2E9C-101B-9397-08002B2CF9AE}" pid="4" name="MSIP_Label_a73fd474-4f3c-44ed-88fb-5cc4bd2471bf_Method">
    <vt:lpwstr>Privileged</vt:lpwstr>
  </property>
  <property fmtid="{D5CDD505-2E9C-101B-9397-08002B2CF9AE}" pid="5" name="MSIP_Label_a73fd474-4f3c-44ed-88fb-5cc4bd2471bf_Name">
    <vt:lpwstr>defa4170-0d19-0005-0004-bc88714345d2</vt:lpwstr>
  </property>
  <property fmtid="{D5CDD505-2E9C-101B-9397-08002B2CF9AE}" pid="6" name="MSIP_Label_a73fd474-4f3c-44ed-88fb-5cc4bd2471bf_SiteId">
    <vt:lpwstr>8d1a69ec-03b5-4345-ae21-dad112f5fb4f</vt:lpwstr>
  </property>
  <property fmtid="{D5CDD505-2E9C-101B-9397-08002B2CF9AE}" pid="7" name="MSIP_Label_a73fd474-4f3c-44ed-88fb-5cc4bd2471bf_ActionId">
    <vt:lpwstr>a2d38a17-13ad-4f2b-802f-7c2617dbc112</vt:lpwstr>
  </property>
  <property fmtid="{D5CDD505-2E9C-101B-9397-08002B2CF9AE}" pid="8" name="MSIP_Label_a73fd474-4f3c-44ed-88fb-5cc4bd2471bf_ContentBits">
    <vt:lpwstr>0</vt:lpwstr>
  </property>
  <property fmtid="{D5CDD505-2E9C-101B-9397-08002B2CF9AE}" pid="9" name="MSIP_Label_a73fd474-4f3c-44ed-88fb-5cc4bd2471bf_Tag">
    <vt:lpwstr>50, 0, 1, 1</vt:lpwstr>
  </property>
</Properties>
</file>